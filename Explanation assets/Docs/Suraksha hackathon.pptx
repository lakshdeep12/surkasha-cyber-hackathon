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Poppins"/>
      <p:bold r:id="rId15"/>
      <p:boldItalic r:id="rId16"/>
    </p:embeddedFont>
    <p:embeddedFont>
      <p:font typeface="Helvetica Neue"/>
      <p:bold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wtPJOmXJnWqxsxEE13+dYP1Rl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slide" Target="slides/slide9.xml"/><Relationship Id="rId17" Type="http://schemas.openxmlformats.org/officeDocument/2006/relationships/font" Target="fonts/HelveticaNeue-bold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jp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237390">
            <a:off x="-1187030" y="5487474"/>
            <a:ext cx="20662060" cy="7541652"/>
          </a:xfrm>
          <a:custGeom>
            <a:rect b="b" l="l" r="r" t="t"/>
            <a:pathLst>
              <a:path extrusionOk="0" h="7541652" w="20662060">
                <a:moveTo>
                  <a:pt x="0" y="0"/>
                </a:moveTo>
                <a:lnTo>
                  <a:pt x="20662060" y="0"/>
                </a:lnTo>
                <a:lnTo>
                  <a:pt x="20662060" y="7541652"/>
                </a:lnTo>
                <a:lnTo>
                  <a:pt x="0" y="7541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6" name="Google Shape;86;p1"/>
          <p:cNvGrpSpPr/>
          <p:nvPr/>
        </p:nvGrpSpPr>
        <p:grpSpPr>
          <a:xfrm>
            <a:off x="25849" y="-95975"/>
            <a:ext cx="18262151" cy="2243399"/>
            <a:chOff x="0" y="-28575"/>
            <a:chExt cx="4809785" cy="590854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4809785" cy="562279"/>
            </a:xfrm>
            <a:custGeom>
              <a:rect b="b" l="l" r="r" t="t"/>
              <a:pathLst>
                <a:path extrusionOk="0" h="562279" w="4809785">
                  <a:moveTo>
                    <a:pt x="0" y="0"/>
                  </a:moveTo>
                  <a:lnTo>
                    <a:pt x="4809785" y="0"/>
                  </a:lnTo>
                  <a:lnTo>
                    <a:pt x="4809785" y="562279"/>
                  </a:lnTo>
                  <a:lnTo>
                    <a:pt x="0" y="562279"/>
                  </a:lnTo>
                  <a:close/>
                </a:path>
              </a:pathLst>
            </a:custGeom>
            <a:solidFill>
              <a:srgbClr val="EEB123"/>
            </a:solidFill>
            <a:ln>
              <a:noFill/>
            </a:ln>
          </p:spPr>
        </p:sp>
        <p:sp>
          <p:nvSpPr>
            <p:cNvPr id="88" name="Google Shape;88;p1"/>
            <p:cNvSpPr txBox="1"/>
            <p:nvPr/>
          </p:nvSpPr>
          <p:spPr>
            <a:xfrm>
              <a:off x="0" y="-28575"/>
              <a:ext cx="4809785" cy="5908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"/>
          <p:cNvSpPr/>
          <p:nvPr/>
        </p:nvSpPr>
        <p:spPr>
          <a:xfrm>
            <a:off x="218748" y="301774"/>
            <a:ext cx="1619904" cy="1845649"/>
          </a:xfrm>
          <a:custGeom>
            <a:rect b="b" l="l" r="r" t="t"/>
            <a:pathLst>
              <a:path extrusionOk="0" h="1845649" w="1619904">
                <a:moveTo>
                  <a:pt x="0" y="0"/>
                </a:moveTo>
                <a:lnTo>
                  <a:pt x="1619904" y="0"/>
                </a:lnTo>
                <a:lnTo>
                  <a:pt x="1619904" y="1845649"/>
                </a:lnTo>
                <a:lnTo>
                  <a:pt x="0" y="1845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827324" y="9095573"/>
            <a:ext cx="11930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52" u="none" cap="none" strike="noStrike">
                <a:solidFill>
                  <a:srgbClr val="FF75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Su₹क्षा</a:t>
            </a:r>
            <a:r>
              <a:rPr b="1" i="0" lang="en-US" sz="6652" u="none" cap="none" strike="noStrike">
                <a:solidFill>
                  <a:srgbClr val="0230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6652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Hackat</a:t>
            </a:r>
            <a:r>
              <a:rPr b="1" i="0" lang="en-US" sz="6652" u="none" cap="none" strike="noStrike">
                <a:solidFill>
                  <a:srgbClr val="00BF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hon 2026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2083975" y="112600"/>
            <a:ext cx="86427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04" u="none" cap="none" strike="noStrike">
                <a:solidFill>
                  <a:srgbClr val="023073"/>
                </a:solidFill>
                <a:latin typeface="Poppins"/>
                <a:ea typeface="Poppins"/>
                <a:cs typeface="Poppins"/>
                <a:sym typeface="Poppins"/>
              </a:rPr>
              <a:t>ReguFlow  </a:t>
            </a:r>
            <a:endParaRPr sz="600"/>
          </a:p>
        </p:txBody>
      </p:sp>
      <p:sp>
        <p:nvSpPr>
          <p:cNvPr id="92" name="Google Shape;92;p1"/>
          <p:cNvSpPr txBox="1"/>
          <p:nvPr/>
        </p:nvSpPr>
        <p:spPr>
          <a:xfrm>
            <a:off x="11124056" y="522588"/>
            <a:ext cx="6917338" cy="1327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3" u="none" cap="none" strike="noStrike">
                <a:solidFill>
                  <a:srgbClr val="023073"/>
                </a:solidFill>
                <a:latin typeface="Poppins"/>
                <a:ea typeface="Poppins"/>
                <a:cs typeface="Poppins"/>
                <a:sym typeface="Poppins"/>
              </a:rPr>
              <a:t>Next-Generation AI-Driven Regulatory Compliance Orchestration for Enterprise Banking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218748" y="2362133"/>
            <a:ext cx="5224119" cy="105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 Swaraj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929868" y="3597208"/>
            <a:ext cx="15127956" cy="738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64182" lvl="1" marL="928365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99"/>
              <a:buFont typeface="Arial"/>
              <a:buAutoNum type="arabicPeriod"/>
            </a:pPr>
            <a:r>
              <a:rPr b="0" i="0" lang="en-US" sz="4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Lakshdeep Singh - Backend &amp; Workflow Systems Lead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929868" y="4494306"/>
            <a:ext cx="13783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99">
                <a:solidFill>
                  <a:srgbClr val="FFFFFF"/>
                </a:solidFill>
              </a:rPr>
              <a:t>  2. </a:t>
            </a:r>
            <a:r>
              <a:rPr b="0" i="0" lang="en-US" sz="4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Nikhil Advani - AI &amp; Regulatory Intelligence Lead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929868" y="5389021"/>
            <a:ext cx="9279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99">
                <a:solidFill>
                  <a:srgbClr val="FFFFFF"/>
                </a:solidFill>
              </a:rPr>
              <a:t>  3. </a:t>
            </a:r>
            <a:r>
              <a:rPr b="0" i="0" lang="en-US" sz="4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Lavanya Gehlot- Frontend Lead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956625" y="6310975"/>
            <a:ext cx="13303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99">
                <a:solidFill>
                  <a:srgbClr val="FFFFFF"/>
                </a:solidFill>
              </a:rPr>
              <a:t>  4. Ayush Choudhary </a:t>
            </a:r>
            <a:r>
              <a:rPr b="0" i="0" lang="en-US" sz="4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4299">
                <a:solidFill>
                  <a:srgbClr val="FFFFFF"/>
                </a:solidFill>
              </a:rPr>
              <a:t>Research and Analysis</a:t>
            </a:r>
            <a:r>
              <a:rPr b="0" i="0" lang="en-US" sz="4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Lead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 rot="-207197">
            <a:off x="-1483918" y="-2258736"/>
            <a:ext cx="7992969" cy="7985575"/>
          </a:xfrm>
          <a:custGeom>
            <a:rect b="b" l="l" r="r" t="t"/>
            <a:pathLst>
              <a:path extrusionOk="0" h="7985575" w="7992969">
                <a:moveTo>
                  <a:pt x="0" y="0"/>
                </a:moveTo>
                <a:lnTo>
                  <a:pt x="7992969" y="0"/>
                </a:lnTo>
                <a:lnTo>
                  <a:pt x="7992969" y="7985576"/>
                </a:lnTo>
                <a:lnTo>
                  <a:pt x="0" y="7985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 rot="240851">
            <a:off x="-1270051" y="5586576"/>
            <a:ext cx="20661091" cy="7541298"/>
          </a:xfrm>
          <a:custGeom>
            <a:rect b="b" l="l" r="r" t="t"/>
            <a:pathLst>
              <a:path extrusionOk="0" h="7541652" w="20662060">
                <a:moveTo>
                  <a:pt x="0" y="0"/>
                </a:moveTo>
                <a:lnTo>
                  <a:pt x="20662060" y="0"/>
                </a:lnTo>
                <a:lnTo>
                  <a:pt x="20662060" y="7541652"/>
                </a:lnTo>
                <a:lnTo>
                  <a:pt x="0" y="7541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777324" y="2812398"/>
            <a:ext cx="9654397" cy="5319441"/>
          </a:xfrm>
          <a:custGeom>
            <a:rect b="b" l="l" r="r" t="t"/>
            <a:pathLst>
              <a:path extrusionOk="0" h="785282" w="1425230">
                <a:moveTo>
                  <a:pt x="20048" y="0"/>
                </a:moveTo>
                <a:lnTo>
                  <a:pt x="1405182" y="0"/>
                </a:lnTo>
                <a:cubicBezTo>
                  <a:pt x="1410499" y="0"/>
                  <a:pt x="1415598" y="2112"/>
                  <a:pt x="1419358" y="5872"/>
                </a:cubicBezTo>
                <a:cubicBezTo>
                  <a:pt x="1423118" y="9631"/>
                  <a:pt x="1425230" y="14731"/>
                  <a:pt x="1425230" y="20048"/>
                </a:cubicBezTo>
                <a:lnTo>
                  <a:pt x="1425230" y="765234"/>
                </a:lnTo>
                <a:cubicBezTo>
                  <a:pt x="1425230" y="776306"/>
                  <a:pt x="1416254" y="785282"/>
                  <a:pt x="1405182" y="785282"/>
                </a:cubicBezTo>
                <a:lnTo>
                  <a:pt x="20048" y="785282"/>
                </a:lnTo>
                <a:cubicBezTo>
                  <a:pt x="14731" y="785282"/>
                  <a:pt x="9631" y="783170"/>
                  <a:pt x="5872" y="779410"/>
                </a:cubicBezTo>
                <a:cubicBezTo>
                  <a:pt x="2112" y="775651"/>
                  <a:pt x="0" y="770551"/>
                  <a:pt x="0" y="765234"/>
                </a:cubicBezTo>
                <a:lnTo>
                  <a:pt x="0" y="20048"/>
                </a:lnTo>
                <a:cubicBezTo>
                  <a:pt x="0" y="14731"/>
                  <a:pt x="2112" y="9631"/>
                  <a:pt x="5872" y="5872"/>
                </a:cubicBezTo>
                <a:cubicBezTo>
                  <a:pt x="9631" y="2112"/>
                  <a:pt x="14731" y="0"/>
                  <a:pt x="20048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49" r="-549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0897363" y="4227129"/>
            <a:ext cx="5879756" cy="989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2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Prose to Production Friction: Central bank circulars are lengthy, nested, multi-page PDFs containing deeply technical requirements mixed with general advisories.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1007313" y="7534819"/>
            <a:ext cx="58797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2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Regulatory Cost: Failure or delays in translating updates lead to immediate operational vulnerabilities and severe financial compliance penalties.</a:t>
            </a:r>
            <a:endParaRPr/>
          </a:p>
        </p:txBody>
      </p:sp>
      <p:grpSp>
        <p:nvGrpSpPr>
          <p:cNvPr id="108" name="Google Shape;108;p2"/>
          <p:cNvGrpSpPr/>
          <p:nvPr/>
        </p:nvGrpSpPr>
        <p:grpSpPr>
          <a:xfrm>
            <a:off x="25849" y="-95975"/>
            <a:ext cx="18262151" cy="2243399"/>
            <a:chOff x="0" y="-28575"/>
            <a:chExt cx="4809785" cy="590854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4809785" cy="562279"/>
            </a:xfrm>
            <a:custGeom>
              <a:rect b="b" l="l" r="r" t="t"/>
              <a:pathLst>
                <a:path extrusionOk="0" h="562279" w="4809785">
                  <a:moveTo>
                    <a:pt x="0" y="0"/>
                  </a:moveTo>
                  <a:lnTo>
                    <a:pt x="4809785" y="0"/>
                  </a:lnTo>
                  <a:lnTo>
                    <a:pt x="4809785" y="562279"/>
                  </a:lnTo>
                  <a:lnTo>
                    <a:pt x="0" y="562279"/>
                  </a:lnTo>
                  <a:close/>
                </a:path>
              </a:pathLst>
            </a:custGeom>
            <a:solidFill>
              <a:srgbClr val="EEB123"/>
            </a:soli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28575"/>
              <a:ext cx="4809785" cy="5908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2071520" y="628650"/>
            <a:ext cx="16216500" cy="15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22" u="none" cap="none" strike="noStrike">
                <a:solidFill>
                  <a:srgbClr val="0230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endParaRPr sz="400"/>
          </a:p>
        </p:txBody>
      </p:sp>
      <p:sp>
        <p:nvSpPr>
          <p:cNvPr id="112" name="Google Shape;112;p2"/>
          <p:cNvSpPr txBox="1"/>
          <p:nvPr/>
        </p:nvSpPr>
        <p:spPr>
          <a:xfrm>
            <a:off x="15173659" y="8984974"/>
            <a:ext cx="2085641" cy="27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0897363" y="2977912"/>
            <a:ext cx="5879756" cy="1064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EEB123"/>
                </a:solidFill>
                <a:latin typeface="Arial"/>
                <a:ea typeface="Arial"/>
                <a:cs typeface="Arial"/>
                <a:sym typeface="Arial"/>
              </a:rPr>
              <a:t>The Compliance Bottleneck &amp; The Velocity Gap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0897363" y="5852061"/>
            <a:ext cx="58797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2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Audit Trail Void: Tracking the manual path of a directive—from initial legal interpretation to explicit IT change validation—is highly fragmented, slow, and heavily prone to human error.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218748" y="301774"/>
            <a:ext cx="1619904" cy="1845649"/>
          </a:xfrm>
          <a:custGeom>
            <a:rect b="b" l="l" r="r" t="t"/>
            <a:pathLst>
              <a:path extrusionOk="0" h="1845649" w="1619904">
                <a:moveTo>
                  <a:pt x="0" y="0"/>
                </a:moveTo>
                <a:lnTo>
                  <a:pt x="1619904" y="0"/>
                </a:lnTo>
                <a:lnTo>
                  <a:pt x="1619904" y="1845649"/>
                </a:lnTo>
                <a:lnTo>
                  <a:pt x="0" y="1845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3"/>
          <p:cNvSpPr/>
          <p:nvPr/>
        </p:nvSpPr>
        <p:spPr>
          <a:xfrm rot="237390">
            <a:off x="-1187030" y="5487474"/>
            <a:ext cx="20662060" cy="7541652"/>
          </a:xfrm>
          <a:custGeom>
            <a:rect b="b" l="l" r="r" t="t"/>
            <a:pathLst>
              <a:path extrusionOk="0" h="7541652" w="20662060">
                <a:moveTo>
                  <a:pt x="0" y="0"/>
                </a:moveTo>
                <a:lnTo>
                  <a:pt x="20662060" y="0"/>
                </a:lnTo>
                <a:lnTo>
                  <a:pt x="20662060" y="7541652"/>
                </a:lnTo>
                <a:lnTo>
                  <a:pt x="0" y="7541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3"/>
          <p:cNvSpPr txBox="1"/>
          <p:nvPr/>
        </p:nvSpPr>
        <p:spPr>
          <a:xfrm>
            <a:off x="392180" y="3082709"/>
            <a:ext cx="6659937" cy="1489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057" lvl="1" marL="45611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12"/>
              <a:buFont typeface="Poppins"/>
              <a:buAutoNum type="arabicPeriod"/>
            </a:pPr>
            <a:r>
              <a:rPr b="0" i="0" lang="en-US" sz="211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Parsing Over Autonomy: ReguFlow treats Large Language Models strictly as contextual parsers and translators, not autonomous decision-makers.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 rot="-207197">
            <a:off x="2897210" y="-2769354"/>
            <a:ext cx="7345219" cy="7338424"/>
          </a:xfrm>
          <a:custGeom>
            <a:rect b="b" l="l" r="r" t="t"/>
            <a:pathLst>
              <a:path extrusionOk="0" h="7338424" w="7345219">
                <a:moveTo>
                  <a:pt x="0" y="0"/>
                </a:moveTo>
                <a:lnTo>
                  <a:pt x="7345220" y="0"/>
                </a:lnTo>
                <a:lnTo>
                  <a:pt x="7345220" y="7338425"/>
                </a:lnTo>
                <a:lnTo>
                  <a:pt x="0" y="7338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4" name="Google Shape;124;p3"/>
          <p:cNvGrpSpPr/>
          <p:nvPr/>
        </p:nvGrpSpPr>
        <p:grpSpPr>
          <a:xfrm>
            <a:off x="25849" y="-95975"/>
            <a:ext cx="18262151" cy="2243399"/>
            <a:chOff x="0" y="-28575"/>
            <a:chExt cx="4809785" cy="590854"/>
          </a:xfrm>
        </p:grpSpPr>
        <p:sp>
          <p:nvSpPr>
            <p:cNvPr id="125" name="Google Shape;125;p3"/>
            <p:cNvSpPr/>
            <p:nvPr/>
          </p:nvSpPr>
          <p:spPr>
            <a:xfrm>
              <a:off x="0" y="0"/>
              <a:ext cx="4809785" cy="562279"/>
            </a:xfrm>
            <a:custGeom>
              <a:rect b="b" l="l" r="r" t="t"/>
              <a:pathLst>
                <a:path extrusionOk="0" h="562279" w="4809785">
                  <a:moveTo>
                    <a:pt x="0" y="0"/>
                  </a:moveTo>
                  <a:lnTo>
                    <a:pt x="4809785" y="0"/>
                  </a:lnTo>
                  <a:lnTo>
                    <a:pt x="4809785" y="562279"/>
                  </a:lnTo>
                  <a:lnTo>
                    <a:pt x="0" y="562279"/>
                  </a:lnTo>
                  <a:close/>
                </a:path>
              </a:pathLst>
            </a:custGeom>
            <a:solidFill>
              <a:srgbClr val="EEB123"/>
            </a:solidFill>
            <a:ln>
              <a:noFill/>
            </a:ln>
          </p:spPr>
        </p:sp>
        <p:sp>
          <p:nvSpPr>
            <p:cNvPr id="126" name="Google Shape;126;p3"/>
            <p:cNvSpPr txBox="1"/>
            <p:nvPr/>
          </p:nvSpPr>
          <p:spPr>
            <a:xfrm>
              <a:off x="0" y="-28575"/>
              <a:ext cx="4809785" cy="5908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3"/>
          <p:cNvSpPr txBox="1"/>
          <p:nvPr/>
        </p:nvSpPr>
        <p:spPr>
          <a:xfrm>
            <a:off x="2188886" y="662476"/>
            <a:ext cx="7536300" cy="11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90" u="none" cap="none" strike="noStrike">
                <a:solidFill>
                  <a:srgbClr val="0230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Solution</a:t>
            </a:r>
            <a:endParaRPr sz="700"/>
          </a:p>
        </p:txBody>
      </p:sp>
      <p:sp>
        <p:nvSpPr>
          <p:cNvPr id="128" name="Google Shape;128;p3"/>
          <p:cNvSpPr txBox="1"/>
          <p:nvPr/>
        </p:nvSpPr>
        <p:spPr>
          <a:xfrm>
            <a:off x="15173659" y="8984974"/>
            <a:ext cx="2085641" cy="27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8060660" y="2972638"/>
            <a:ext cx="9198640" cy="5761263"/>
          </a:xfrm>
          <a:custGeom>
            <a:rect b="b" l="l" r="r" t="t"/>
            <a:pathLst>
              <a:path extrusionOk="0" h="442331" w="706241">
                <a:moveTo>
                  <a:pt x="21041" y="0"/>
                </a:moveTo>
                <a:lnTo>
                  <a:pt x="685200" y="0"/>
                </a:lnTo>
                <a:cubicBezTo>
                  <a:pt x="696821" y="0"/>
                  <a:pt x="706241" y="9420"/>
                  <a:pt x="706241" y="21041"/>
                </a:cubicBezTo>
                <a:lnTo>
                  <a:pt x="706241" y="421290"/>
                </a:lnTo>
                <a:cubicBezTo>
                  <a:pt x="706241" y="426870"/>
                  <a:pt x="704024" y="432222"/>
                  <a:pt x="700078" y="436168"/>
                </a:cubicBezTo>
                <a:cubicBezTo>
                  <a:pt x="696132" y="440114"/>
                  <a:pt x="690781" y="442331"/>
                  <a:pt x="685200" y="442331"/>
                </a:cubicBezTo>
                <a:lnTo>
                  <a:pt x="21041" y="442331"/>
                </a:lnTo>
                <a:cubicBezTo>
                  <a:pt x="9420" y="442331"/>
                  <a:pt x="0" y="432910"/>
                  <a:pt x="0" y="421290"/>
                </a:cubicBezTo>
                <a:lnTo>
                  <a:pt x="0" y="21041"/>
                </a:lnTo>
                <a:cubicBezTo>
                  <a:pt x="0" y="15461"/>
                  <a:pt x="2217" y="10109"/>
                  <a:pt x="6163" y="6163"/>
                </a:cubicBezTo>
                <a:cubicBezTo>
                  <a:pt x="10109" y="2217"/>
                  <a:pt x="15461" y="0"/>
                  <a:pt x="21041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187" l="0" r="0" t="-3187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392180" y="5079999"/>
            <a:ext cx="6659937" cy="1489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057" lvl="1" marL="45611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12"/>
              <a:buFont typeface="Poppins"/>
              <a:buAutoNum type="arabicPeriod"/>
            </a:pPr>
            <a:r>
              <a:rPr b="0" i="0" lang="en-US" sz="211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MAP Paradigm: Automated deconstruction of raw legal text into machine-readable, traceable Measurable Action Points (MAPs).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392180" y="6865761"/>
            <a:ext cx="6659937" cy="2232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057" lvl="1" marL="45611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12"/>
              <a:buFont typeface="Poppins"/>
              <a:buAutoNum type="arabicPeriod"/>
            </a:pPr>
            <a:r>
              <a:rPr b="0" i="0" lang="en-US" sz="211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Zero-Trust Engineering Strategy: Built specifically to support on-premises, air-gapped container execution (Docker), completely satisfying national data privacy acts (like India's DPDP Act) with zero public API leaks.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218748" y="214801"/>
            <a:ext cx="1619904" cy="1845649"/>
          </a:xfrm>
          <a:custGeom>
            <a:rect b="b" l="l" r="r" t="t"/>
            <a:pathLst>
              <a:path extrusionOk="0" h="1845649" w="1619904">
                <a:moveTo>
                  <a:pt x="0" y="0"/>
                </a:moveTo>
                <a:lnTo>
                  <a:pt x="1619904" y="0"/>
                </a:lnTo>
                <a:lnTo>
                  <a:pt x="1619904" y="1845649"/>
                </a:lnTo>
                <a:lnTo>
                  <a:pt x="0" y="1845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3"/>
          <p:cNvSpPr txBox="1"/>
          <p:nvPr/>
        </p:nvSpPr>
        <p:spPr>
          <a:xfrm>
            <a:off x="10077521" y="772298"/>
            <a:ext cx="7974186" cy="1172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23073"/>
                </a:solidFill>
                <a:latin typeface="Poppins"/>
                <a:ea typeface="Poppins"/>
                <a:cs typeface="Poppins"/>
                <a:sym typeface="Poppins"/>
              </a:rPr>
              <a:t>An AI-powered deterministic compliance orchestration platform that transforms RBI circulars into executable and auditable workflows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 rot="237390">
            <a:off x="-1187030" y="5487474"/>
            <a:ext cx="20662060" cy="7541652"/>
          </a:xfrm>
          <a:custGeom>
            <a:rect b="b" l="l" r="r" t="t"/>
            <a:pathLst>
              <a:path extrusionOk="0" h="7541652" w="20662060">
                <a:moveTo>
                  <a:pt x="0" y="0"/>
                </a:moveTo>
                <a:lnTo>
                  <a:pt x="20662060" y="0"/>
                </a:lnTo>
                <a:lnTo>
                  <a:pt x="20662060" y="7541652"/>
                </a:lnTo>
                <a:lnTo>
                  <a:pt x="0" y="7541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0" name="Google Shape;140;p4"/>
          <p:cNvGrpSpPr/>
          <p:nvPr/>
        </p:nvGrpSpPr>
        <p:grpSpPr>
          <a:xfrm>
            <a:off x="25849" y="-95975"/>
            <a:ext cx="18262151" cy="2243399"/>
            <a:chOff x="0" y="-28575"/>
            <a:chExt cx="4809785" cy="590854"/>
          </a:xfrm>
        </p:grpSpPr>
        <p:sp>
          <p:nvSpPr>
            <p:cNvPr id="141" name="Google Shape;141;p4"/>
            <p:cNvSpPr/>
            <p:nvPr/>
          </p:nvSpPr>
          <p:spPr>
            <a:xfrm>
              <a:off x="0" y="0"/>
              <a:ext cx="4809785" cy="562279"/>
            </a:xfrm>
            <a:custGeom>
              <a:rect b="b" l="l" r="r" t="t"/>
              <a:pathLst>
                <a:path extrusionOk="0" h="562279" w="4809785">
                  <a:moveTo>
                    <a:pt x="0" y="0"/>
                  </a:moveTo>
                  <a:lnTo>
                    <a:pt x="4809785" y="0"/>
                  </a:lnTo>
                  <a:lnTo>
                    <a:pt x="4809785" y="562279"/>
                  </a:lnTo>
                  <a:lnTo>
                    <a:pt x="0" y="562279"/>
                  </a:lnTo>
                  <a:close/>
                </a:path>
              </a:pathLst>
            </a:custGeom>
            <a:solidFill>
              <a:srgbClr val="EEB123"/>
            </a:solidFill>
            <a:ln>
              <a:noFill/>
            </a:ln>
          </p:spPr>
        </p:sp>
        <p:sp>
          <p:nvSpPr>
            <p:cNvPr id="142" name="Google Shape;142;p4"/>
            <p:cNvSpPr txBox="1"/>
            <p:nvPr/>
          </p:nvSpPr>
          <p:spPr>
            <a:xfrm>
              <a:off x="0" y="-28575"/>
              <a:ext cx="4809785" cy="5908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4"/>
          <p:cNvSpPr txBox="1"/>
          <p:nvPr/>
        </p:nvSpPr>
        <p:spPr>
          <a:xfrm>
            <a:off x="2071520" y="666968"/>
            <a:ext cx="15494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230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 Engine Architecture</a:t>
            </a:r>
            <a:endParaRPr sz="900"/>
          </a:p>
        </p:txBody>
      </p:sp>
      <p:sp>
        <p:nvSpPr>
          <p:cNvPr id="144" name="Google Shape;144;p4"/>
          <p:cNvSpPr/>
          <p:nvPr/>
        </p:nvSpPr>
        <p:spPr>
          <a:xfrm>
            <a:off x="218748" y="2581142"/>
            <a:ext cx="11942263" cy="7373393"/>
          </a:xfrm>
          <a:custGeom>
            <a:rect b="b" l="l" r="r" t="t"/>
            <a:pathLst>
              <a:path extrusionOk="0" h="465143" w="753365">
                <a:moveTo>
                  <a:pt x="16207" y="0"/>
                </a:moveTo>
                <a:lnTo>
                  <a:pt x="737158" y="0"/>
                </a:lnTo>
                <a:cubicBezTo>
                  <a:pt x="741456" y="0"/>
                  <a:pt x="745578" y="1708"/>
                  <a:pt x="748618" y="4747"/>
                </a:cubicBezTo>
                <a:cubicBezTo>
                  <a:pt x="751657" y="7786"/>
                  <a:pt x="753365" y="11909"/>
                  <a:pt x="753365" y="16207"/>
                </a:cubicBezTo>
                <a:lnTo>
                  <a:pt x="753365" y="448936"/>
                </a:lnTo>
                <a:cubicBezTo>
                  <a:pt x="753365" y="453234"/>
                  <a:pt x="751657" y="457356"/>
                  <a:pt x="748618" y="460396"/>
                </a:cubicBezTo>
                <a:cubicBezTo>
                  <a:pt x="745578" y="463435"/>
                  <a:pt x="741456" y="465143"/>
                  <a:pt x="737158" y="465143"/>
                </a:cubicBezTo>
                <a:lnTo>
                  <a:pt x="16207" y="465143"/>
                </a:lnTo>
                <a:cubicBezTo>
                  <a:pt x="7256" y="465143"/>
                  <a:pt x="0" y="457886"/>
                  <a:pt x="0" y="448936"/>
                </a:cubicBezTo>
                <a:lnTo>
                  <a:pt x="0" y="16207"/>
                </a:lnTo>
                <a:cubicBezTo>
                  <a:pt x="0" y="11909"/>
                  <a:pt x="1708" y="7786"/>
                  <a:pt x="4747" y="4747"/>
                </a:cubicBezTo>
                <a:cubicBezTo>
                  <a:pt x="7786" y="1708"/>
                  <a:pt x="11909" y="0"/>
                  <a:pt x="16207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816" l="0" r="0" t="-81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 rot="-206533">
            <a:off x="3186747" y="-5207002"/>
            <a:ext cx="7987397" cy="7980008"/>
          </a:xfrm>
          <a:custGeom>
            <a:rect b="b" l="l" r="r" t="t"/>
            <a:pathLst>
              <a:path extrusionOk="0" h="7985575" w="7992969">
                <a:moveTo>
                  <a:pt x="0" y="0"/>
                </a:moveTo>
                <a:lnTo>
                  <a:pt x="7992969" y="0"/>
                </a:lnTo>
                <a:lnTo>
                  <a:pt x="7992969" y="7985575"/>
                </a:lnTo>
                <a:lnTo>
                  <a:pt x="0" y="7985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4"/>
          <p:cNvSpPr/>
          <p:nvPr/>
        </p:nvSpPr>
        <p:spPr>
          <a:xfrm>
            <a:off x="218748" y="214801"/>
            <a:ext cx="1619904" cy="1845649"/>
          </a:xfrm>
          <a:custGeom>
            <a:rect b="b" l="l" r="r" t="t"/>
            <a:pathLst>
              <a:path extrusionOk="0" h="1845649" w="1619904">
                <a:moveTo>
                  <a:pt x="0" y="0"/>
                </a:moveTo>
                <a:lnTo>
                  <a:pt x="1619904" y="0"/>
                </a:lnTo>
                <a:lnTo>
                  <a:pt x="1619904" y="1845649"/>
                </a:lnTo>
                <a:lnTo>
                  <a:pt x="0" y="1845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4"/>
          <p:cNvSpPr txBox="1"/>
          <p:nvPr/>
        </p:nvSpPr>
        <p:spPr>
          <a:xfrm>
            <a:off x="12467586" y="3428999"/>
            <a:ext cx="5098200" cy="1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Layout-Aware Ingestion: Advanced parsing layer preserves nested tables, cross-referenced historical documents, and appendix criteria.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12467586" y="5008137"/>
            <a:ext cx="5098289" cy="166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LangGraph Orchestration Machine: Enforces strict, rule-based state transitions that constrain the parsing swarms into predictable execution bounds.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15480235" y="9681210"/>
            <a:ext cx="2085641" cy="27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12467586" y="6986997"/>
            <a:ext cx="5098200" cy="16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Pydantic Type Enforcement: Serializes unstructured legal directives into rigorous, typed JSON schemas a specific operational roles (e.g., InfoSec, Risk Management, Database Operations).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5"/>
          <p:cNvSpPr/>
          <p:nvPr/>
        </p:nvSpPr>
        <p:spPr>
          <a:xfrm rot="237390">
            <a:off x="-1187030" y="5487474"/>
            <a:ext cx="20662060" cy="7541652"/>
          </a:xfrm>
          <a:custGeom>
            <a:rect b="b" l="l" r="r" t="t"/>
            <a:pathLst>
              <a:path extrusionOk="0" h="7541652" w="20662060">
                <a:moveTo>
                  <a:pt x="0" y="0"/>
                </a:moveTo>
                <a:lnTo>
                  <a:pt x="20662060" y="0"/>
                </a:lnTo>
                <a:lnTo>
                  <a:pt x="20662060" y="7541652"/>
                </a:lnTo>
                <a:lnTo>
                  <a:pt x="0" y="7541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5"/>
          <p:cNvSpPr/>
          <p:nvPr/>
        </p:nvSpPr>
        <p:spPr>
          <a:xfrm>
            <a:off x="1028700" y="2988317"/>
            <a:ext cx="405639" cy="300910"/>
          </a:xfrm>
          <a:custGeom>
            <a:rect b="b" l="l" r="r" t="t"/>
            <a:pathLst>
              <a:path extrusionOk="0" h="300910" w="405639">
                <a:moveTo>
                  <a:pt x="0" y="0"/>
                </a:moveTo>
                <a:lnTo>
                  <a:pt x="405639" y="0"/>
                </a:lnTo>
                <a:lnTo>
                  <a:pt x="405639" y="300910"/>
                </a:lnTo>
                <a:lnTo>
                  <a:pt x="0" y="30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5"/>
          <p:cNvSpPr/>
          <p:nvPr/>
        </p:nvSpPr>
        <p:spPr>
          <a:xfrm>
            <a:off x="9543084" y="2979171"/>
            <a:ext cx="417967" cy="310056"/>
          </a:xfrm>
          <a:custGeom>
            <a:rect b="b" l="l" r="r" t="t"/>
            <a:pathLst>
              <a:path extrusionOk="0" h="310056" w="417967">
                <a:moveTo>
                  <a:pt x="0" y="0"/>
                </a:moveTo>
                <a:lnTo>
                  <a:pt x="417967" y="0"/>
                </a:lnTo>
                <a:lnTo>
                  <a:pt x="417967" y="310056"/>
                </a:lnTo>
                <a:lnTo>
                  <a:pt x="0" y="3100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5"/>
          <p:cNvSpPr/>
          <p:nvPr/>
        </p:nvSpPr>
        <p:spPr>
          <a:xfrm>
            <a:off x="1028700" y="6591827"/>
            <a:ext cx="405639" cy="300910"/>
          </a:xfrm>
          <a:custGeom>
            <a:rect b="b" l="l" r="r" t="t"/>
            <a:pathLst>
              <a:path extrusionOk="0" h="300910" w="405639">
                <a:moveTo>
                  <a:pt x="0" y="0"/>
                </a:moveTo>
                <a:lnTo>
                  <a:pt x="405639" y="0"/>
                </a:lnTo>
                <a:lnTo>
                  <a:pt x="405639" y="300910"/>
                </a:lnTo>
                <a:lnTo>
                  <a:pt x="0" y="30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5"/>
          <p:cNvSpPr/>
          <p:nvPr/>
        </p:nvSpPr>
        <p:spPr>
          <a:xfrm>
            <a:off x="9555412" y="6508047"/>
            <a:ext cx="405639" cy="300910"/>
          </a:xfrm>
          <a:custGeom>
            <a:rect b="b" l="l" r="r" t="t"/>
            <a:pathLst>
              <a:path extrusionOk="0" h="300910" w="405639">
                <a:moveTo>
                  <a:pt x="0" y="0"/>
                </a:moveTo>
                <a:lnTo>
                  <a:pt x="405639" y="0"/>
                </a:lnTo>
                <a:lnTo>
                  <a:pt x="405639" y="300910"/>
                </a:lnTo>
                <a:lnTo>
                  <a:pt x="0" y="30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5"/>
          <p:cNvSpPr/>
          <p:nvPr/>
        </p:nvSpPr>
        <p:spPr>
          <a:xfrm rot="-207197">
            <a:off x="4045081" y="-2912816"/>
            <a:ext cx="7992969" cy="7985575"/>
          </a:xfrm>
          <a:custGeom>
            <a:rect b="b" l="l" r="r" t="t"/>
            <a:pathLst>
              <a:path extrusionOk="0" h="7985575" w="7992969">
                <a:moveTo>
                  <a:pt x="0" y="0"/>
                </a:moveTo>
                <a:lnTo>
                  <a:pt x="7992969" y="0"/>
                </a:lnTo>
                <a:lnTo>
                  <a:pt x="7992969" y="7985576"/>
                </a:lnTo>
                <a:lnTo>
                  <a:pt x="0" y="7985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5"/>
          <p:cNvSpPr txBox="1"/>
          <p:nvPr/>
        </p:nvSpPr>
        <p:spPr>
          <a:xfrm>
            <a:off x="1838652" y="2855346"/>
            <a:ext cx="6769369" cy="2800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Core Policy Boundary: The platform acts as a recommendation layer; zero operational updates are promoted to production without multi-tiered human sign-off via a Role-Based Access Control (RBAC) panel.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10296194" y="2855346"/>
            <a:ext cx="7189553" cy="2800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ReadOnly Automated Auditing: The verification engine runs read-only integration tests against isolated test environments to verify compliance states (e.g., querying database configurations to confirm active encryption).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1838652" y="6441372"/>
            <a:ext cx="6769369" cy="2333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Cryptographic Record Keeping: Computes an immutable SHA-256 hash at every operational lifecycle phase, guaranteeing tamper-proof logs for regulatory examiners.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10296194" y="6441372"/>
            <a:ext cx="7189553" cy="1866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Complete Regulatory Accountability Chain Maintains a transparent timeline of who reviewed, approved, validated, and executed each compliance directive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15173659" y="8984974"/>
            <a:ext cx="2085641" cy="27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  <a:endParaRPr/>
          </a:p>
        </p:txBody>
      </p:sp>
      <p:grpSp>
        <p:nvGrpSpPr>
          <p:cNvPr id="167" name="Google Shape;167;p5"/>
          <p:cNvGrpSpPr/>
          <p:nvPr/>
        </p:nvGrpSpPr>
        <p:grpSpPr>
          <a:xfrm>
            <a:off x="25849" y="-95975"/>
            <a:ext cx="18262151" cy="2243399"/>
            <a:chOff x="0" y="-28575"/>
            <a:chExt cx="4809785" cy="590854"/>
          </a:xfrm>
        </p:grpSpPr>
        <p:sp>
          <p:nvSpPr>
            <p:cNvPr id="168" name="Google Shape;168;p5"/>
            <p:cNvSpPr/>
            <p:nvPr/>
          </p:nvSpPr>
          <p:spPr>
            <a:xfrm>
              <a:off x="0" y="0"/>
              <a:ext cx="4809785" cy="562279"/>
            </a:xfrm>
            <a:custGeom>
              <a:rect b="b" l="l" r="r" t="t"/>
              <a:pathLst>
                <a:path extrusionOk="0" h="562279" w="4809785">
                  <a:moveTo>
                    <a:pt x="0" y="0"/>
                  </a:moveTo>
                  <a:lnTo>
                    <a:pt x="4809785" y="0"/>
                  </a:lnTo>
                  <a:lnTo>
                    <a:pt x="4809785" y="562279"/>
                  </a:lnTo>
                  <a:lnTo>
                    <a:pt x="0" y="562279"/>
                  </a:lnTo>
                  <a:close/>
                </a:path>
              </a:pathLst>
            </a:custGeom>
            <a:solidFill>
              <a:srgbClr val="EEB123"/>
            </a:solidFill>
            <a:ln>
              <a:noFill/>
            </a:ln>
          </p:spPr>
        </p:sp>
        <p:sp>
          <p:nvSpPr>
            <p:cNvPr id="169" name="Google Shape;169;p5"/>
            <p:cNvSpPr txBox="1"/>
            <p:nvPr/>
          </p:nvSpPr>
          <p:spPr>
            <a:xfrm>
              <a:off x="0" y="-28575"/>
              <a:ext cx="4809785" cy="5908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5"/>
          <p:cNvSpPr txBox="1"/>
          <p:nvPr/>
        </p:nvSpPr>
        <p:spPr>
          <a:xfrm>
            <a:off x="2071520" y="316176"/>
            <a:ext cx="164493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0" u="none" cap="none" strike="noStrike">
                <a:solidFill>
                  <a:srgbClr val="0230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Secure Verification Logs &amp; Immutable Audit Trails</a:t>
            </a:r>
            <a:endParaRPr sz="1100"/>
          </a:p>
        </p:txBody>
      </p:sp>
      <p:sp>
        <p:nvSpPr>
          <p:cNvPr id="171" name="Google Shape;171;p5"/>
          <p:cNvSpPr/>
          <p:nvPr/>
        </p:nvSpPr>
        <p:spPr>
          <a:xfrm>
            <a:off x="218748" y="214801"/>
            <a:ext cx="1619904" cy="1845649"/>
          </a:xfrm>
          <a:custGeom>
            <a:rect b="b" l="l" r="r" t="t"/>
            <a:pathLst>
              <a:path extrusionOk="0" h="1845649" w="1619904">
                <a:moveTo>
                  <a:pt x="0" y="0"/>
                </a:moveTo>
                <a:lnTo>
                  <a:pt x="1619904" y="0"/>
                </a:lnTo>
                <a:lnTo>
                  <a:pt x="1619904" y="1845649"/>
                </a:lnTo>
                <a:lnTo>
                  <a:pt x="0" y="1845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7" name="Google Shape;177;p6"/>
          <p:cNvGrpSpPr/>
          <p:nvPr/>
        </p:nvGrpSpPr>
        <p:grpSpPr>
          <a:xfrm>
            <a:off x="25849" y="-95975"/>
            <a:ext cx="18262151" cy="2243399"/>
            <a:chOff x="0" y="-28575"/>
            <a:chExt cx="4809785" cy="590854"/>
          </a:xfrm>
        </p:grpSpPr>
        <p:sp>
          <p:nvSpPr>
            <p:cNvPr id="178" name="Google Shape;178;p6"/>
            <p:cNvSpPr/>
            <p:nvPr/>
          </p:nvSpPr>
          <p:spPr>
            <a:xfrm>
              <a:off x="0" y="0"/>
              <a:ext cx="4809785" cy="562279"/>
            </a:xfrm>
            <a:custGeom>
              <a:rect b="b" l="l" r="r" t="t"/>
              <a:pathLst>
                <a:path extrusionOk="0" h="562279" w="4809785">
                  <a:moveTo>
                    <a:pt x="0" y="0"/>
                  </a:moveTo>
                  <a:lnTo>
                    <a:pt x="4809785" y="0"/>
                  </a:lnTo>
                  <a:lnTo>
                    <a:pt x="4809785" y="562279"/>
                  </a:lnTo>
                  <a:lnTo>
                    <a:pt x="0" y="562279"/>
                  </a:lnTo>
                  <a:close/>
                </a:path>
              </a:pathLst>
            </a:custGeom>
            <a:solidFill>
              <a:srgbClr val="EEB123"/>
            </a:solidFill>
            <a:ln>
              <a:noFill/>
            </a:ln>
          </p:spPr>
        </p:sp>
        <p:sp>
          <p:nvSpPr>
            <p:cNvPr id="179" name="Google Shape;179;p6"/>
            <p:cNvSpPr txBox="1"/>
            <p:nvPr/>
          </p:nvSpPr>
          <p:spPr>
            <a:xfrm>
              <a:off x="0" y="-28575"/>
              <a:ext cx="4809785" cy="5908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6"/>
          <p:cNvSpPr/>
          <p:nvPr/>
        </p:nvSpPr>
        <p:spPr>
          <a:xfrm rot="-207197">
            <a:off x="-1775979" y="-2304114"/>
            <a:ext cx="7992969" cy="7985575"/>
          </a:xfrm>
          <a:custGeom>
            <a:rect b="b" l="l" r="r" t="t"/>
            <a:pathLst>
              <a:path extrusionOk="0" h="7985575" w="7992969">
                <a:moveTo>
                  <a:pt x="0" y="0"/>
                </a:moveTo>
                <a:lnTo>
                  <a:pt x="7992970" y="0"/>
                </a:lnTo>
                <a:lnTo>
                  <a:pt x="7992970" y="7985576"/>
                </a:lnTo>
                <a:lnTo>
                  <a:pt x="0" y="7985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6"/>
          <p:cNvSpPr/>
          <p:nvPr/>
        </p:nvSpPr>
        <p:spPr>
          <a:xfrm rot="237390">
            <a:off x="-1187030" y="5487474"/>
            <a:ext cx="20662060" cy="7541652"/>
          </a:xfrm>
          <a:custGeom>
            <a:rect b="b" l="l" r="r" t="t"/>
            <a:pathLst>
              <a:path extrusionOk="0" h="7541652" w="20662060">
                <a:moveTo>
                  <a:pt x="0" y="0"/>
                </a:moveTo>
                <a:lnTo>
                  <a:pt x="20662060" y="0"/>
                </a:lnTo>
                <a:lnTo>
                  <a:pt x="20662060" y="7541652"/>
                </a:lnTo>
                <a:lnTo>
                  <a:pt x="0" y="7541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6"/>
          <p:cNvSpPr/>
          <p:nvPr/>
        </p:nvSpPr>
        <p:spPr>
          <a:xfrm>
            <a:off x="10805761" y="2970581"/>
            <a:ext cx="405639" cy="300910"/>
          </a:xfrm>
          <a:custGeom>
            <a:rect b="b" l="l" r="r" t="t"/>
            <a:pathLst>
              <a:path extrusionOk="0" h="300910" w="405639">
                <a:moveTo>
                  <a:pt x="0" y="0"/>
                </a:moveTo>
                <a:lnTo>
                  <a:pt x="405639" y="0"/>
                </a:lnTo>
                <a:lnTo>
                  <a:pt x="405639" y="300911"/>
                </a:lnTo>
                <a:lnTo>
                  <a:pt x="0" y="3009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6"/>
          <p:cNvSpPr/>
          <p:nvPr/>
        </p:nvSpPr>
        <p:spPr>
          <a:xfrm>
            <a:off x="10805761" y="6988023"/>
            <a:ext cx="405639" cy="300910"/>
          </a:xfrm>
          <a:custGeom>
            <a:rect b="b" l="l" r="r" t="t"/>
            <a:pathLst>
              <a:path extrusionOk="0" h="300910" w="405639">
                <a:moveTo>
                  <a:pt x="0" y="0"/>
                </a:moveTo>
                <a:lnTo>
                  <a:pt x="405639" y="0"/>
                </a:lnTo>
                <a:lnTo>
                  <a:pt x="405639" y="300910"/>
                </a:lnTo>
                <a:lnTo>
                  <a:pt x="0" y="30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6"/>
          <p:cNvSpPr/>
          <p:nvPr/>
        </p:nvSpPr>
        <p:spPr>
          <a:xfrm>
            <a:off x="10805761" y="4590682"/>
            <a:ext cx="405639" cy="300910"/>
          </a:xfrm>
          <a:custGeom>
            <a:rect b="b" l="l" r="r" t="t"/>
            <a:pathLst>
              <a:path extrusionOk="0" h="300910" w="405639">
                <a:moveTo>
                  <a:pt x="0" y="0"/>
                </a:moveTo>
                <a:lnTo>
                  <a:pt x="405639" y="0"/>
                </a:lnTo>
                <a:lnTo>
                  <a:pt x="405639" y="300910"/>
                </a:lnTo>
                <a:lnTo>
                  <a:pt x="0" y="30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6"/>
          <p:cNvSpPr/>
          <p:nvPr/>
        </p:nvSpPr>
        <p:spPr>
          <a:xfrm>
            <a:off x="481164" y="2970581"/>
            <a:ext cx="9990987" cy="5586641"/>
          </a:xfrm>
          <a:custGeom>
            <a:rect b="b" l="l" r="r" t="t"/>
            <a:pathLst>
              <a:path extrusionOk="0" h="442331" w="791052">
                <a:moveTo>
                  <a:pt x="19372" y="0"/>
                </a:moveTo>
                <a:lnTo>
                  <a:pt x="771680" y="0"/>
                </a:lnTo>
                <a:cubicBezTo>
                  <a:pt x="782379" y="0"/>
                  <a:pt x="791052" y="8673"/>
                  <a:pt x="791052" y="19372"/>
                </a:cubicBezTo>
                <a:lnTo>
                  <a:pt x="791052" y="422959"/>
                </a:lnTo>
                <a:cubicBezTo>
                  <a:pt x="791052" y="428097"/>
                  <a:pt x="789011" y="433024"/>
                  <a:pt x="785378" y="436657"/>
                </a:cubicBezTo>
                <a:cubicBezTo>
                  <a:pt x="781745" y="440290"/>
                  <a:pt x="776818" y="442331"/>
                  <a:pt x="771680" y="442331"/>
                </a:cubicBezTo>
                <a:lnTo>
                  <a:pt x="19372" y="442331"/>
                </a:lnTo>
                <a:cubicBezTo>
                  <a:pt x="14234" y="442331"/>
                  <a:pt x="9307" y="440290"/>
                  <a:pt x="5674" y="436657"/>
                </a:cubicBezTo>
                <a:cubicBezTo>
                  <a:pt x="2041" y="433024"/>
                  <a:pt x="0" y="428097"/>
                  <a:pt x="0" y="422959"/>
                </a:cubicBezTo>
                <a:lnTo>
                  <a:pt x="0" y="19372"/>
                </a:lnTo>
                <a:cubicBezTo>
                  <a:pt x="0" y="14234"/>
                  <a:pt x="2041" y="9307"/>
                  <a:pt x="5674" y="5674"/>
                </a:cubicBezTo>
                <a:cubicBezTo>
                  <a:pt x="9307" y="2041"/>
                  <a:pt x="14234" y="0"/>
                  <a:pt x="19372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97" l="0" r="0" t="-297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218748" y="214801"/>
            <a:ext cx="1619904" cy="1845649"/>
          </a:xfrm>
          <a:custGeom>
            <a:rect b="b" l="l" r="r" t="t"/>
            <a:pathLst>
              <a:path extrusionOk="0" h="1845649" w="1619904">
                <a:moveTo>
                  <a:pt x="0" y="0"/>
                </a:moveTo>
                <a:lnTo>
                  <a:pt x="1619904" y="0"/>
                </a:lnTo>
                <a:lnTo>
                  <a:pt x="1619904" y="1845649"/>
                </a:lnTo>
                <a:lnTo>
                  <a:pt x="0" y="1845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6"/>
          <p:cNvSpPr/>
          <p:nvPr/>
        </p:nvSpPr>
        <p:spPr>
          <a:xfrm>
            <a:off x="10805761" y="5791683"/>
            <a:ext cx="405639" cy="300910"/>
          </a:xfrm>
          <a:custGeom>
            <a:rect b="b" l="l" r="r" t="t"/>
            <a:pathLst>
              <a:path extrusionOk="0" h="300910" w="405639">
                <a:moveTo>
                  <a:pt x="0" y="0"/>
                </a:moveTo>
                <a:lnTo>
                  <a:pt x="405639" y="0"/>
                </a:lnTo>
                <a:lnTo>
                  <a:pt x="405639" y="300910"/>
                </a:lnTo>
                <a:lnTo>
                  <a:pt x="0" y="30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6"/>
          <p:cNvSpPr txBox="1"/>
          <p:nvPr/>
        </p:nvSpPr>
        <p:spPr>
          <a:xfrm>
            <a:off x="15173659" y="8984974"/>
            <a:ext cx="2085641" cy="27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2071525" y="834325"/>
            <a:ext cx="170418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0" u="none" cap="none" strike="noStrike">
                <a:solidFill>
                  <a:srgbClr val="0230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Production-Ready Enterprise Stack</a:t>
            </a:r>
            <a:endParaRPr sz="1000"/>
          </a:p>
        </p:txBody>
      </p:sp>
      <p:sp>
        <p:nvSpPr>
          <p:cNvPr id="190" name="Google Shape;190;p6"/>
          <p:cNvSpPr txBox="1"/>
          <p:nvPr/>
        </p:nvSpPr>
        <p:spPr>
          <a:xfrm>
            <a:off x="11540485" y="2903906"/>
            <a:ext cx="5718815" cy="1263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Backend: FastAPI (optimized for highly parallel asynchronous network calls).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11540485" y="4524007"/>
            <a:ext cx="5718815" cy="84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Storage &amp; Vector Layer: PostgreSQL + FAISS / ChromaDB.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11540485" y="5725008"/>
            <a:ext cx="5718815" cy="84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State Management: LangChain &amp; LangGraph.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11540485" y="6921348"/>
            <a:ext cx="5718815" cy="1263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Security &amp; Operations: JWT Authentication + RBAC + Isolated Docker Environments.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7"/>
          <p:cNvSpPr/>
          <p:nvPr/>
        </p:nvSpPr>
        <p:spPr>
          <a:xfrm>
            <a:off x="16975519" y="940915"/>
            <a:ext cx="283781" cy="189069"/>
          </a:xfrm>
          <a:custGeom>
            <a:rect b="b" l="l" r="r" t="t"/>
            <a:pathLst>
              <a:path extrusionOk="0" h="189069" w="283781">
                <a:moveTo>
                  <a:pt x="0" y="0"/>
                </a:moveTo>
                <a:lnTo>
                  <a:pt x="283781" y="0"/>
                </a:lnTo>
                <a:lnTo>
                  <a:pt x="283781" y="189070"/>
                </a:lnTo>
                <a:lnTo>
                  <a:pt x="0" y="189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7"/>
          <p:cNvSpPr/>
          <p:nvPr/>
        </p:nvSpPr>
        <p:spPr>
          <a:xfrm>
            <a:off x="1019798" y="748444"/>
            <a:ext cx="560511" cy="560511"/>
          </a:xfrm>
          <a:custGeom>
            <a:rect b="b" l="l" r="r" t="t"/>
            <a:pathLst>
              <a:path extrusionOk="0" h="560511" w="560511">
                <a:moveTo>
                  <a:pt x="0" y="0"/>
                </a:moveTo>
                <a:lnTo>
                  <a:pt x="560511" y="0"/>
                </a:lnTo>
                <a:lnTo>
                  <a:pt x="560511" y="560512"/>
                </a:lnTo>
                <a:lnTo>
                  <a:pt x="0" y="5605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7"/>
          <p:cNvSpPr txBox="1"/>
          <p:nvPr/>
        </p:nvSpPr>
        <p:spPr>
          <a:xfrm>
            <a:off x="15241694" y="879790"/>
            <a:ext cx="1426490" cy="269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13652346" y="879790"/>
            <a:ext cx="989273" cy="269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11963205" y="879790"/>
            <a:ext cx="1089220" cy="269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 rot="237390">
            <a:off x="-1187030" y="5487474"/>
            <a:ext cx="20662060" cy="7541652"/>
          </a:xfrm>
          <a:custGeom>
            <a:rect b="b" l="l" r="r" t="t"/>
            <a:pathLst>
              <a:path extrusionOk="0" h="7541652" w="20662060">
                <a:moveTo>
                  <a:pt x="0" y="0"/>
                </a:moveTo>
                <a:lnTo>
                  <a:pt x="20662060" y="0"/>
                </a:lnTo>
                <a:lnTo>
                  <a:pt x="20662060" y="7541652"/>
                </a:lnTo>
                <a:lnTo>
                  <a:pt x="0" y="7541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7"/>
          <p:cNvSpPr txBox="1"/>
          <p:nvPr/>
        </p:nvSpPr>
        <p:spPr>
          <a:xfrm>
            <a:off x="1028700" y="2700806"/>
            <a:ext cx="14153862" cy="1425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24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ReguFlow not as a simple technical tool, but as a mandatory, next-generation AI operating system built to preserve institutional trust and compliance safety across the entire banking ecosystem.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15173659" y="8984974"/>
            <a:ext cx="2085641" cy="27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  <a:endParaRPr/>
          </a:p>
        </p:txBody>
      </p:sp>
      <p:grpSp>
        <p:nvGrpSpPr>
          <p:cNvPr id="207" name="Google Shape;207;p7"/>
          <p:cNvGrpSpPr/>
          <p:nvPr/>
        </p:nvGrpSpPr>
        <p:grpSpPr>
          <a:xfrm>
            <a:off x="25849" y="-95975"/>
            <a:ext cx="18262151" cy="2243399"/>
            <a:chOff x="0" y="-28575"/>
            <a:chExt cx="4809785" cy="590854"/>
          </a:xfrm>
        </p:grpSpPr>
        <p:sp>
          <p:nvSpPr>
            <p:cNvPr id="208" name="Google Shape;208;p7"/>
            <p:cNvSpPr/>
            <p:nvPr/>
          </p:nvSpPr>
          <p:spPr>
            <a:xfrm>
              <a:off x="0" y="0"/>
              <a:ext cx="4809785" cy="562279"/>
            </a:xfrm>
            <a:custGeom>
              <a:rect b="b" l="l" r="r" t="t"/>
              <a:pathLst>
                <a:path extrusionOk="0" h="562279" w="4809785">
                  <a:moveTo>
                    <a:pt x="0" y="0"/>
                  </a:moveTo>
                  <a:lnTo>
                    <a:pt x="4809785" y="0"/>
                  </a:lnTo>
                  <a:lnTo>
                    <a:pt x="4809785" y="562279"/>
                  </a:lnTo>
                  <a:lnTo>
                    <a:pt x="0" y="562279"/>
                  </a:lnTo>
                  <a:close/>
                </a:path>
              </a:pathLst>
            </a:custGeom>
            <a:solidFill>
              <a:srgbClr val="EEB123"/>
            </a:solidFill>
            <a:ln>
              <a:noFill/>
            </a:ln>
          </p:spPr>
        </p:sp>
        <p:sp>
          <p:nvSpPr>
            <p:cNvPr id="209" name="Google Shape;209;p7"/>
            <p:cNvSpPr txBox="1"/>
            <p:nvPr/>
          </p:nvSpPr>
          <p:spPr>
            <a:xfrm>
              <a:off x="0" y="-28575"/>
              <a:ext cx="4809785" cy="5908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7"/>
          <p:cNvSpPr/>
          <p:nvPr/>
        </p:nvSpPr>
        <p:spPr>
          <a:xfrm rot="-207197">
            <a:off x="2994341" y="-5685345"/>
            <a:ext cx="7992969" cy="7985575"/>
          </a:xfrm>
          <a:custGeom>
            <a:rect b="b" l="l" r="r" t="t"/>
            <a:pathLst>
              <a:path extrusionOk="0" h="7985575" w="7992969">
                <a:moveTo>
                  <a:pt x="0" y="0"/>
                </a:moveTo>
                <a:lnTo>
                  <a:pt x="7992969" y="0"/>
                </a:lnTo>
                <a:lnTo>
                  <a:pt x="7992969" y="7985575"/>
                </a:lnTo>
                <a:lnTo>
                  <a:pt x="0" y="7985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7"/>
          <p:cNvSpPr txBox="1"/>
          <p:nvPr/>
        </p:nvSpPr>
        <p:spPr>
          <a:xfrm>
            <a:off x="1838650" y="784400"/>
            <a:ext cx="1692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230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Business Impact &amp; Future Vision</a:t>
            </a:r>
            <a:endParaRPr sz="1000"/>
          </a:p>
        </p:txBody>
      </p:sp>
      <p:sp>
        <p:nvSpPr>
          <p:cNvPr id="212" name="Google Shape;212;p7"/>
          <p:cNvSpPr/>
          <p:nvPr/>
        </p:nvSpPr>
        <p:spPr>
          <a:xfrm>
            <a:off x="218748" y="214801"/>
            <a:ext cx="1619904" cy="1845649"/>
          </a:xfrm>
          <a:custGeom>
            <a:rect b="b" l="l" r="r" t="t"/>
            <a:pathLst>
              <a:path extrusionOk="0" h="1845649" w="1619904">
                <a:moveTo>
                  <a:pt x="0" y="0"/>
                </a:moveTo>
                <a:lnTo>
                  <a:pt x="1619904" y="0"/>
                </a:lnTo>
                <a:lnTo>
                  <a:pt x="1619904" y="1845649"/>
                </a:lnTo>
                <a:lnTo>
                  <a:pt x="0" y="1845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7"/>
          <p:cNvSpPr txBox="1"/>
          <p:nvPr/>
        </p:nvSpPr>
        <p:spPr>
          <a:xfrm>
            <a:off x="1019798" y="5208738"/>
            <a:ext cx="7296387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Quantifiable Efficiency: Lowers the operational transition window of new regulations from weeks to mere minutes.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9679132" y="5208738"/>
            <a:ext cx="7296387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Risk Mitigation: Eliminates human translation slip-ups, dramatically lowering compliance vulnerabilities and audit failures.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1019798" y="7062303"/>
            <a:ext cx="7296387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Future Scope: Cross-organizational scaling to support localized, regional bank guidelines and automated internal audit generation.</a:t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9144000" y="5246838"/>
            <a:ext cx="405639" cy="300910"/>
          </a:xfrm>
          <a:custGeom>
            <a:rect b="b" l="l" r="r" t="t"/>
            <a:pathLst>
              <a:path extrusionOk="0" h="300910" w="405639">
                <a:moveTo>
                  <a:pt x="0" y="0"/>
                </a:moveTo>
                <a:lnTo>
                  <a:pt x="405639" y="0"/>
                </a:lnTo>
                <a:lnTo>
                  <a:pt x="405639" y="300910"/>
                </a:lnTo>
                <a:lnTo>
                  <a:pt x="0" y="30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7"/>
          <p:cNvSpPr/>
          <p:nvPr/>
        </p:nvSpPr>
        <p:spPr>
          <a:xfrm>
            <a:off x="480809" y="5246838"/>
            <a:ext cx="405639" cy="300910"/>
          </a:xfrm>
          <a:custGeom>
            <a:rect b="b" l="l" r="r" t="t"/>
            <a:pathLst>
              <a:path extrusionOk="0" h="300910" w="405639">
                <a:moveTo>
                  <a:pt x="0" y="0"/>
                </a:moveTo>
                <a:lnTo>
                  <a:pt x="405639" y="0"/>
                </a:lnTo>
                <a:lnTo>
                  <a:pt x="405639" y="300910"/>
                </a:lnTo>
                <a:lnTo>
                  <a:pt x="0" y="30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7"/>
          <p:cNvSpPr/>
          <p:nvPr/>
        </p:nvSpPr>
        <p:spPr>
          <a:xfrm>
            <a:off x="487758" y="7100403"/>
            <a:ext cx="405639" cy="300910"/>
          </a:xfrm>
          <a:custGeom>
            <a:rect b="b" l="l" r="r" t="t"/>
            <a:pathLst>
              <a:path extrusionOk="0" h="300910" w="405639">
                <a:moveTo>
                  <a:pt x="0" y="0"/>
                </a:moveTo>
                <a:lnTo>
                  <a:pt x="405639" y="0"/>
                </a:lnTo>
                <a:lnTo>
                  <a:pt x="405639" y="300910"/>
                </a:lnTo>
                <a:lnTo>
                  <a:pt x="0" y="30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8"/>
          <p:cNvSpPr/>
          <p:nvPr/>
        </p:nvSpPr>
        <p:spPr>
          <a:xfrm rot="-207197">
            <a:off x="14793003" y="-1966675"/>
            <a:ext cx="7992969" cy="7985575"/>
          </a:xfrm>
          <a:custGeom>
            <a:rect b="b" l="l" r="r" t="t"/>
            <a:pathLst>
              <a:path extrusionOk="0" h="7985575" w="7992969">
                <a:moveTo>
                  <a:pt x="0" y="0"/>
                </a:moveTo>
                <a:lnTo>
                  <a:pt x="7992969" y="0"/>
                </a:lnTo>
                <a:lnTo>
                  <a:pt x="7992969" y="7985575"/>
                </a:lnTo>
                <a:lnTo>
                  <a:pt x="0" y="7985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8"/>
          <p:cNvSpPr/>
          <p:nvPr/>
        </p:nvSpPr>
        <p:spPr>
          <a:xfrm rot="643216">
            <a:off x="-4390574" y="-1125967"/>
            <a:ext cx="7992969" cy="7985575"/>
          </a:xfrm>
          <a:custGeom>
            <a:rect b="b" l="l" r="r" t="t"/>
            <a:pathLst>
              <a:path extrusionOk="0" h="7985575" w="7992969">
                <a:moveTo>
                  <a:pt x="0" y="0"/>
                </a:moveTo>
                <a:lnTo>
                  <a:pt x="7992970" y="0"/>
                </a:lnTo>
                <a:lnTo>
                  <a:pt x="7992970" y="7985575"/>
                </a:lnTo>
                <a:lnTo>
                  <a:pt x="0" y="7985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8"/>
          <p:cNvSpPr/>
          <p:nvPr/>
        </p:nvSpPr>
        <p:spPr>
          <a:xfrm rot="240851">
            <a:off x="-1065876" y="5497551"/>
            <a:ext cx="20661091" cy="7541298"/>
          </a:xfrm>
          <a:custGeom>
            <a:rect b="b" l="l" r="r" t="t"/>
            <a:pathLst>
              <a:path extrusionOk="0" h="7541652" w="20662060">
                <a:moveTo>
                  <a:pt x="0" y="0"/>
                </a:moveTo>
                <a:lnTo>
                  <a:pt x="20662060" y="0"/>
                </a:lnTo>
                <a:lnTo>
                  <a:pt x="20662060" y="7541652"/>
                </a:lnTo>
                <a:lnTo>
                  <a:pt x="0" y="7541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8"/>
          <p:cNvSpPr/>
          <p:nvPr/>
        </p:nvSpPr>
        <p:spPr>
          <a:xfrm>
            <a:off x="1071001" y="4222182"/>
            <a:ext cx="3204282" cy="3368257"/>
          </a:xfrm>
          <a:custGeom>
            <a:rect b="b" l="l" r="r" t="t"/>
            <a:pathLst>
              <a:path extrusionOk="0" h="266687" w="253704">
                <a:moveTo>
                  <a:pt x="60402" y="0"/>
                </a:moveTo>
                <a:lnTo>
                  <a:pt x="193302" y="0"/>
                </a:lnTo>
                <a:cubicBezTo>
                  <a:pt x="226661" y="0"/>
                  <a:pt x="253704" y="27043"/>
                  <a:pt x="253704" y="60402"/>
                </a:cubicBezTo>
                <a:lnTo>
                  <a:pt x="253704" y="206286"/>
                </a:lnTo>
                <a:cubicBezTo>
                  <a:pt x="253704" y="239645"/>
                  <a:pt x="226661" y="266687"/>
                  <a:pt x="193302" y="266687"/>
                </a:cubicBezTo>
                <a:lnTo>
                  <a:pt x="60402" y="266687"/>
                </a:lnTo>
                <a:cubicBezTo>
                  <a:pt x="27043" y="266687"/>
                  <a:pt x="0" y="239645"/>
                  <a:pt x="0" y="206286"/>
                </a:cubicBezTo>
                <a:lnTo>
                  <a:pt x="0" y="60402"/>
                </a:lnTo>
                <a:cubicBezTo>
                  <a:pt x="0" y="27043"/>
                  <a:pt x="27043" y="0"/>
                  <a:pt x="60402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9457" l="0" r="0" t="-9457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9423654" y="4222182"/>
            <a:ext cx="3204282" cy="3368257"/>
          </a:xfrm>
          <a:custGeom>
            <a:rect b="b" l="l" r="r" t="t"/>
            <a:pathLst>
              <a:path extrusionOk="0" h="266687" w="253704">
                <a:moveTo>
                  <a:pt x="60402" y="0"/>
                </a:moveTo>
                <a:lnTo>
                  <a:pt x="193302" y="0"/>
                </a:lnTo>
                <a:cubicBezTo>
                  <a:pt x="226661" y="0"/>
                  <a:pt x="253704" y="27043"/>
                  <a:pt x="253704" y="60402"/>
                </a:cubicBezTo>
                <a:lnTo>
                  <a:pt x="253704" y="206286"/>
                </a:lnTo>
                <a:cubicBezTo>
                  <a:pt x="253704" y="239645"/>
                  <a:pt x="226661" y="266687"/>
                  <a:pt x="193302" y="266687"/>
                </a:cubicBezTo>
                <a:lnTo>
                  <a:pt x="60402" y="266687"/>
                </a:lnTo>
                <a:cubicBezTo>
                  <a:pt x="27043" y="266687"/>
                  <a:pt x="0" y="239645"/>
                  <a:pt x="0" y="206286"/>
                </a:cubicBezTo>
                <a:lnTo>
                  <a:pt x="0" y="60402"/>
                </a:lnTo>
                <a:cubicBezTo>
                  <a:pt x="0" y="27043"/>
                  <a:pt x="27043" y="0"/>
                  <a:pt x="60402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55699" l="0" r="0" t="-5569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5181516" y="4222144"/>
            <a:ext cx="3204282" cy="3368257"/>
          </a:xfrm>
          <a:custGeom>
            <a:rect b="b" l="l" r="r" t="t"/>
            <a:pathLst>
              <a:path extrusionOk="0" h="266687" w="253704">
                <a:moveTo>
                  <a:pt x="60402" y="0"/>
                </a:moveTo>
                <a:lnTo>
                  <a:pt x="193302" y="0"/>
                </a:lnTo>
                <a:cubicBezTo>
                  <a:pt x="226661" y="0"/>
                  <a:pt x="253704" y="27043"/>
                  <a:pt x="253704" y="60402"/>
                </a:cubicBezTo>
                <a:lnTo>
                  <a:pt x="253704" y="206286"/>
                </a:lnTo>
                <a:cubicBezTo>
                  <a:pt x="253704" y="239645"/>
                  <a:pt x="226661" y="266687"/>
                  <a:pt x="193302" y="266687"/>
                </a:cubicBezTo>
                <a:lnTo>
                  <a:pt x="60402" y="266687"/>
                </a:lnTo>
                <a:cubicBezTo>
                  <a:pt x="27043" y="266687"/>
                  <a:pt x="0" y="239645"/>
                  <a:pt x="0" y="206286"/>
                </a:cubicBezTo>
                <a:lnTo>
                  <a:pt x="0" y="60402"/>
                </a:lnTo>
                <a:cubicBezTo>
                  <a:pt x="0" y="27043"/>
                  <a:pt x="27043" y="0"/>
                  <a:pt x="60402" y="0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37679" l="-145779" r="0" t="-3767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0" name="Google Shape;230;p8"/>
          <p:cNvGrpSpPr/>
          <p:nvPr/>
        </p:nvGrpSpPr>
        <p:grpSpPr>
          <a:xfrm>
            <a:off x="25849" y="-95975"/>
            <a:ext cx="18262151" cy="2243399"/>
            <a:chOff x="0" y="-28575"/>
            <a:chExt cx="4809785" cy="590854"/>
          </a:xfrm>
        </p:grpSpPr>
        <p:sp>
          <p:nvSpPr>
            <p:cNvPr id="231" name="Google Shape;231;p8"/>
            <p:cNvSpPr/>
            <p:nvPr/>
          </p:nvSpPr>
          <p:spPr>
            <a:xfrm>
              <a:off x="0" y="0"/>
              <a:ext cx="4809785" cy="562279"/>
            </a:xfrm>
            <a:custGeom>
              <a:rect b="b" l="l" r="r" t="t"/>
              <a:pathLst>
                <a:path extrusionOk="0" h="562279" w="4809785">
                  <a:moveTo>
                    <a:pt x="0" y="0"/>
                  </a:moveTo>
                  <a:lnTo>
                    <a:pt x="4809785" y="0"/>
                  </a:lnTo>
                  <a:lnTo>
                    <a:pt x="4809785" y="562279"/>
                  </a:lnTo>
                  <a:lnTo>
                    <a:pt x="0" y="562279"/>
                  </a:lnTo>
                  <a:close/>
                </a:path>
              </a:pathLst>
            </a:custGeom>
            <a:solidFill>
              <a:srgbClr val="EEB123"/>
            </a:solidFill>
            <a:ln>
              <a:noFill/>
            </a:ln>
          </p:spPr>
        </p:sp>
        <p:sp>
          <p:nvSpPr>
            <p:cNvPr id="232" name="Google Shape;232;p8"/>
            <p:cNvSpPr txBox="1"/>
            <p:nvPr/>
          </p:nvSpPr>
          <p:spPr>
            <a:xfrm>
              <a:off x="0" y="-28575"/>
              <a:ext cx="4809785" cy="5908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8"/>
          <p:cNvSpPr/>
          <p:nvPr/>
        </p:nvSpPr>
        <p:spPr>
          <a:xfrm>
            <a:off x="218748" y="214801"/>
            <a:ext cx="1619904" cy="1845649"/>
          </a:xfrm>
          <a:custGeom>
            <a:rect b="b" l="l" r="r" t="t"/>
            <a:pathLst>
              <a:path extrusionOk="0" h="1845649" w="1619904">
                <a:moveTo>
                  <a:pt x="0" y="0"/>
                </a:moveTo>
                <a:lnTo>
                  <a:pt x="1619904" y="0"/>
                </a:lnTo>
                <a:lnTo>
                  <a:pt x="1619904" y="1845649"/>
                </a:lnTo>
                <a:lnTo>
                  <a:pt x="0" y="1845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8"/>
          <p:cNvSpPr txBox="1"/>
          <p:nvPr/>
        </p:nvSpPr>
        <p:spPr>
          <a:xfrm>
            <a:off x="3032476" y="2872228"/>
            <a:ext cx="11527279" cy="798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Meet the passionate minds behind our vision — a team driven by innovation, collaboration, and results.</a:t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2212006" y="637800"/>
            <a:ext cx="142629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3" u="none" cap="none" strike="noStrike">
                <a:solidFill>
                  <a:srgbClr val="0230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Meet Our Team</a:t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1321551" y="7972325"/>
            <a:ext cx="29538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62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Lakshdeep Singh</a:t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5682652" y="7972317"/>
            <a:ext cx="22020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62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Nikhil Advani</a:t>
            </a:r>
            <a:endParaRPr/>
          </a:p>
        </p:txBody>
      </p:sp>
      <p:sp>
        <p:nvSpPr>
          <p:cNvPr id="238" name="Google Shape;238;p8"/>
          <p:cNvSpPr txBox="1"/>
          <p:nvPr/>
        </p:nvSpPr>
        <p:spPr>
          <a:xfrm>
            <a:off x="15754759" y="9361899"/>
            <a:ext cx="20856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9924791" y="7972330"/>
            <a:ext cx="22020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62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Lavanya</a:t>
            </a:r>
            <a:endParaRPr/>
          </a:p>
          <a:p>
            <a:pPr indent="0" lvl="0" marL="0" marR="0" rtl="0" algn="ctr">
              <a:lnSpc>
                <a:spcPct val="7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62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Gehlot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9"/>
          <p:cNvSpPr/>
          <p:nvPr/>
        </p:nvSpPr>
        <p:spPr>
          <a:xfrm rot="237390">
            <a:off x="-1187030" y="5487474"/>
            <a:ext cx="20662060" cy="7541652"/>
          </a:xfrm>
          <a:custGeom>
            <a:rect b="b" l="l" r="r" t="t"/>
            <a:pathLst>
              <a:path extrusionOk="0" h="7541652" w="20662060">
                <a:moveTo>
                  <a:pt x="0" y="0"/>
                </a:moveTo>
                <a:lnTo>
                  <a:pt x="20662060" y="0"/>
                </a:lnTo>
                <a:lnTo>
                  <a:pt x="20662060" y="7541652"/>
                </a:lnTo>
                <a:lnTo>
                  <a:pt x="0" y="7541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9"/>
          <p:cNvSpPr txBox="1"/>
          <p:nvPr/>
        </p:nvSpPr>
        <p:spPr>
          <a:xfrm>
            <a:off x="1028700" y="4081413"/>
            <a:ext cx="15722452" cy="2537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55" u="none" cap="none" strike="noStrike">
                <a:solidFill>
                  <a:srgbClr val="FF75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</a:t>
            </a:r>
            <a:r>
              <a:rPr b="1" i="0" lang="en-US" sz="20555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nk </a:t>
            </a:r>
            <a:r>
              <a:rPr b="1" i="0" lang="en-US" sz="20555" u="none" cap="none" strike="noStrike">
                <a:solidFill>
                  <a:srgbClr val="00BF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3773749" y="7680738"/>
            <a:ext cx="10740503" cy="798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 for your time and consideration. We’re excited to innovate and contribute through the Suraksha Hackathon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15173659" y="8984974"/>
            <a:ext cx="2085641" cy="27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09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 rot="-207197">
            <a:off x="2304768" y="-4497865"/>
            <a:ext cx="7992969" cy="7985575"/>
          </a:xfrm>
          <a:custGeom>
            <a:rect b="b" l="l" r="r" t="t"/>
            <a:pathLst>
              <a:path extrusionOk="0" h="7985575" w="7992969">
                <a:moveTo>
                  <a:pt x="0" y="0"/>
                </a:moveTo>
                <a:lnTo>
                  <a:pt x="7992970" y="0"/>
                </a:lnTo>
                <a:lnTo>
                  <a:pt x="7992970" y="7985575"/>
                </a:lnTo>
                <a:lnTo>
                  <a:pt x="0" y="7985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